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9202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800" b="1" i="0">
                <a:solidFill>
                  <a:srgbClr val="1F2A44"/>
                </a:solidFill>
              </a:rPr>
              <a:t>Fashionable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3200400"/>
            <a:ext cx="228600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3383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1">
                <a:solidFill>
                  <a:srgbClr val="6C757D"/>
                </a:solidFill>
              </a:rPr>
              <a:t>A Kimball star-schema build on 129k rows of raw sales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206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1F2A44"/>
                </a:solidFill>
              </a:rPr>
              <a:t>Trade-offs, decisions, and what I'd add for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Architecture at a glance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173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F2A44"/>
                </a:solidFill>
                <a:latin typeface="Menlo"/>
              </a:rPr>
              <a:t>  CSV  ──(scripts/load_raw.py)──▶  raw.fashionable_sales_raw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│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▼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stg_fashionable__orders   (staging schema)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│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┌──────────────┬─────────────────────┼──────────────────┬────────────────┐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▼              ▼                     ▼                  ▼                ▼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dim_date     dim_product         dim_geography       dim_order_status    (fact)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└──────────────┴─────────────────────┴──────────────────┘               │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│                                    │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└───────────► fct_sales ◄────────────┘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             (marts schema)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                 │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                 ▼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                                              BI / dashboards (semantic layer)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2636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raw / seeds hold source data · staging is 1:1 · marts is the star exposed to BI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Data exploration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31363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7863840"/>
              </a:tblGrid>
              <a:tr h="31363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128,975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Unique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120,378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Source columns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24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Date 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2022-03-31 → 2022-06-29 (91 distinct days)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7,195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1,377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Categories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9</a:t>
                      </a:r>
                    </a:p>
                  </a:txBody>
                  <a:tcPr/>
                </a:tc>
              </a:tr>
              <a:tr h="313639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</a:t>
                      </a:r>
                    </a:p>
                  </a:txBody>
                  <a:tcPr/>
                </a:tc>
              </a:tr>
              <a:tr h="313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 cities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8,955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Business concepts: Orders · Products · Sales · Location · Fulfilment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Source grain: one row ≠ one order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</a:rPr>
              <a:t>One order ≠ one row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5669280" cy="2258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468880"/>
              </a:tblGrid>
              <a:tr h="3226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Records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128,975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Unique 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120,378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Extra line items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8,597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Orders w/ multiple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6,846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Max rows for one 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</a:t>
                      </a:r>
                    </a:p>
                  </a:txBody>
                  <a:tcPr/>
                </a:tc>
              </a:tr>
              <a:tr h="322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Exact-dup (Order ID, SKU) groups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F2A44"/>
                </a:solidFill>
              </a:rPr>
              <a:t>Product hierarchy  Style → SKU → Size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0" y="1737360"/>
          <a:ext cx="521208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2286000"/>
              </a:tblGrid>
              <a:tr h="3276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Finding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1,377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7,195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Sizes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Styles w/ multiple SKUs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1,180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Max SKUs for one style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C0392B"/>
                </a:solidFill>
              </a:rPr>
              <a:t>Fact grain = order × SKU line item. (Order ID, SKU) needs DISTINCT in staging (D2).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Data quality — completeness &amp; uniqueness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84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72400"/>
                <a:gridCol w="3291840"/>
              </a:tblGrid>
              <a:tr h="315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Check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Result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Business-level exact duplicate rows (excl. `index`)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Missing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7,795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Qty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12,807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Negative Qty / Negative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 / 0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Invalid dates (format %m-%d-%y)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Missing shipping 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33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 → Style / Category / Size drift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 / 0 / 0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Status ↔ Courier Status contradictions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218 (0.17%)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C0392B"/>
                </a:solidFill>
              </a:rPr>
              <a:t>Master data is clean. (Order ID, SKU) is almost unique — dedupe required.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Data quality — cross-field &amp; geography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Amount / currency null pattern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Both NULL: 7,795  ·  Only Amount NULL: 0  ·  Only currency NULL: 0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Perfectly correlated → drop `currency` (D4)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Fulfilment ↔ fulfilled-by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926080"/>
          <a:ext cx="5669280" cy="108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1463040"/>
              </a:tblGrid>
              <a:tr h="3627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Fulfilment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fulfilled-by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Fashionable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&lt;NULL&gt;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89,698</a:t>
                      </a:r>
                    </a:p>
                  </a:txBody>
                  <a:tcPr/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Merchant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Easy 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39,277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0" y="12801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Casing collapse (D7)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0" y="1691640"/>
          <a:ext cx="5212080" cy="1380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371600"/>
                <a:gridCol w="914400"/>
              </a:tblGrid>
              <a:tr h="34518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Column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Raw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Normalized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% dup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8,955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7,297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19%</a:t>
                      </a:r>
                    </a:p>
                  </a:txBody>
                  <a:tcPr/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ship-state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32%</a:t>
                      </a:r>
                    </a:p>
                  </a:txBody>
                  <a:tcPr/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ship-country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3383280"/>
            <a:ext cx="5212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C757D"/>
                </a:solidFill>
              </a:rPr>
              <a:t>India has 36 states + UTs officially — even normalized we see 47 (residual misspellings).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Not every anomaly is bad data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088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2286000"/>
                <a:gridCol w="2377440"/>
              </a:tblGrid>
              <a:tr h="36271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Condition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Cancelled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Shipped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Qty =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12,807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12,703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104</a:t>
                      </a:r>
                    </a:p>
                  </a:txBody>
                  <a:tcPr/>
                </a:tc>
              </a:tr>
              <a:tr h="3627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Amount missing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7,795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219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2651760"/>
            <a:ext cx="11064240" cy="402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Cancelled + Amount &gt; 0: 10,766 rows — list price at cancel time. Naïve sum inflates revenue ~15%. → D1 is_cancelled + derived revenue_amount.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Active-order anomalies to FLAG (not delete): Shipped + Qty=0 = 104, Shipped + Amount missing = 219.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promotion-ids: 79,822 rows carry data (62%), up to 36 promos/row. → D3 promo_count on fact, bridge deferred.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Key insight: NULL / unusual values ≠ bad data. Silent filtering destroys signal.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Data quality treatment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9418320"/>
              </a:tblGrid>
              <a:tr h="3276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Examples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CLEAN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Types, snake_case names, whitespace/casing, city/state normalization, date parsing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KEEP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 orders, valid business NULLs, `_raw` audit columns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FLAG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 + Qty = 0 · Shipped + missing Amount · Status/Courier contradictions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EXCLUDE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Technical `index`, `Unnamed: 22` (79,925 rows literal 'False'), `fulfilled-by` (redundant), constants `currency` / `ship-country`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PK uniqueness · fact↔dim relationships · accepted values · reconciliation vs raw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0392B"/>
                </a:solidFill>
              </a:rPr>
              <a:t>Guiding principle: improve data quality without destroying business information.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D1–D8 locked decisions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843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2960"/>
                <a:gridCol w="10241280"/>
              </a:tblGrid>
              <a:tr h="31597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Ref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Decision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 orders kept · is_cancelled flag + derived revenue_amount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Fact grain = order × SKU line item · SK from (order_id, sku)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promo_count on fact · bridge_order_promotion + dim_promotion deferred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Drop Unnamed:22, fulfilled-by, currency, ship-country in staging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dim_order_status with status_detail + 5-group status_group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Contradictions pass through · warn-level dbt test at 250 threshold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UPPER(TRIM()) canonical city/state · keep _raw audit columns</a:t>
                      </a:r>
                    </a:p>
                  </a:txBody>
                  <a:tcPr/>
                </a:tc>
              </a:tr>
              <a:tr h="31597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Cast Date → DATE with strptime('%m-%d-%y') in staging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61722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1">
                <a:solidFill>
                  <a:srgbClr val="6C757D"/>
                </a:solidFill>
              </a:rPr>
              <a:t>Full rationale + interview soundbites in speaker notes.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The star 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25880"/>
            <a:ext cx="1170432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┌─────────────────┐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  dim_date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│─────────────────│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date_key (PK)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full_date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year, quarter,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month, week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│ season          │◀── 'trend by season'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└────────┬────────┘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┌────────────────┐                 │              ┌────────────────┐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│  dim_product   │                 │              │ dim_geography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│────────────────│                 │              │────────────────│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│ product_key(PK)│                 │              │geography_key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│ sku, style,    │                 │              │ ship_city/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│ category, size │                 │              │ state/postal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└───────┬────────┘                 │              │ region ← seed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│                          │              └───────┬────────┘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│       ┌──────────────────┴──────────────────┐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└───────►             fct_sales               ◄───┘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sales_key (PK), date_key, product_key,│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geography_key, status_key    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Degen: order_id, sku, fulfilment,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       sales_channel, service_level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Measures: qty, amount, revenue_amount,│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       promo_count           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│ Flags:  is_cancelled, is_b2b 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└──────────────────┬────────────────────┘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  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┌──────────▼──────────┐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│  dim_order_status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│ status_detail (NK)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│ status_group ← D5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│ is_terminal         │</a:t>
            </a:r>
            <a:br/>
            <a:r>
              <a:rPr sz="900" b="0" i="0">
                <a:solidFill>
                  <a:srgbClr val="1F2A44"/>
                </a:solidFill>
                <a:latin typeface="Menlo"/>
              </a:rPr>
              <a:t>                          └─────────────────────┘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Grain decision: order × SKU line item (D2)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887200" cy="2258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029200"/>
                <a:gridCol w="4114800"/>
              </a:tblGrid>
              <a:tr h="32265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Consideration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Line-item grain (chosen)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Order-level (rejected)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Row 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128,968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120,378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Style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✓ direct join to dim_product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✗ lost — SKU column collapses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Size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✓ direct join to dim_product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✗ lost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Basket analysis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✓ same order_id across rows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harder — need array/JSON</a:t>
                      </a:r>
                    </a:p>
                  </a:txBody>
                  <a:tcPr/>
                </a:tc>
              </a:tr>
              <a:tr h="32265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Aggregation to order-level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✓ trivial roll-up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n/a</a:t>
                      </a:r>
                    </a:p>
                  </a:txBody>
                  <a:tcPr/>
                </a:tc>
              </a:tr>
              <a:tr h="32265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Kimball fit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canonical transactional fact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aggregated fact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1">
                <a:solidFill>
                  <a:srgbClr val="C0392B"/>
                </a:solidFill>
              </a:rPr>
              <a:t>"Aggregating up is trivial; disaggregating down is impossible."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6C757D"/>
                </a:solidFill>
                <a:latin typeface="Menlo"/>
              </a:rPr>
              <a:t>PK: sales_key = dbt_utils.generate_surrogate_key(['order_id', 'sku'])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Dimension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1920240"/>
                <a:gridCol w="1737360"/>
                <a:gridCol w="1005840"/>
                <a:gridCol w="731520"/>
                <a:gridCol w="3931920"/>
              </a:tblGrid>
              <a:tr h="3346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Grain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PK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Rows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SCD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 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YYYYMMDD 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4,018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date_spine 2020-2030, season CASE (C4)</a:t>
                      </a:r>
                    </a:p>
                  </a:txBody>
                  <a:tcPr/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SKU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md5(sku)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7,195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0 style/category/size drift proven in profiling</a:t>
                      </a:r>
                    </a:p>
                  </a:txBody>
                  <a:tcPr/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dim_geography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(city, state, postal)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md5(3-tuple)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14,470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UNKNOWN sentinel row + region seed</a:t>
                      </a:r>
                    </a:p>
                  </a:txBody>
                  <a:tcPr/>
                </a:tc>
              </a:tr>
              <a:tr h="3346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dim_order_status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status_detail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md5(detail)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hardcoded VALUES() list, D5 grouping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All PKs are md5 surrogate keys via dbt_utils.generate_surrogate_key().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Type 1 for all: source lacks effective dates. Snapshot-based Type 2 is a Phase-10 item.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dim_geography — two design calls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1. UNKNOWN sentinel row (Kimball pattern)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64240" cy="4983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33 fact rows in staging have missing shipping fields (ship-city / state / postal all NULL).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Rather than drop them, dim_geography has one row where city = state = postal = 'UNKNOWN'.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COALESCE-before-join in fct_sales resolves the 33 to the sentinel — every fact row has a valid FK.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Tested by relationships(fct_sales.geography_key → dim_geography.geography_key), not_null.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F2A44"/>
                </a:solidFill>
              </a:rPr>
              <a:t>2. Region via seed `state_to_region.csv`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77639"/>
            <a:ext cx="1106424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36 rows: 28 Indian states + 8 UTs, uppercase names to match staging's UPPER(TRIM) form.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LEFT JOIN in dim_geography; unmatched → 'Unknown' region (COALESCE fallback).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Today: 1,160 fact rows land on region='Unknown' — assert_fact_unknown_region_rate WARNs at 3,000, ERRORs at 10,000.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State-name aliasing ('ANDAMAN &amp; NICOBAR' vs seed) is a documented FUTURE_IMPROVEMENTS item.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dim_order_status — 13 raw values → 5 buckets (D5)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39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80160"/>
                <a:gridCol w="7955279"/>
              </a:tblGrid>
              <a:tr h="32766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status_group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is_terminal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status_detail rows covered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Delivered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 - Delivered to Buyer · Shipped - Picked Up · Shipped - Out for Delivery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 (in transit)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Pending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Pending · Pending - Waiting for Pick Up · Shipping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Cancelled</a:t>
                      </a:r>
                    </a:p>
                  </a:txBody>
                  <a:tcPr/>
                </a:tc>
              </a:tr>
              <a:tr h="3276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Returned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Shipped - Returned to Seller · Shipped - Returning to Seller · Shipped - Rejected by Buyer · Shipped - Damaged · Shipped - Lost in Transit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F2A44"/>
                </a:solidFill>
              </a:rPr>
              <a:t>Protected by two tests: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937760"/>
            <a:ext cx="11064240" cy="1737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accepted_values on stg_fashionable__orders.status_detail — catches new statuses at source.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assert_is_terminal_matches_status_group — catches wrong-row edits in the hardcoded VALUES().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dbt project structure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1F2A44"/>
                </a:solidFill>
                <a:latin typeface="Menlo"/>
              </a:rPr>
              <a:t>dbt/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dbt_project.yml         # medallion defaults: staging=view, marts=table, +tags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profiles.yml            # in-repo, env-var driven DBT_DUCKDB_PATH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packages.yml            # dbt_utils only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macros/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└── generate_schema_name.sql   # clean schema names — no target_ prefix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models/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├── staging/fashionable/       # 1 model (view)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│   ├── _fashionable__sources.yml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│   ├── _fashionable__models.yml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│   └── stg_fashionable__orders.sql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└── marts/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    ├── dimensions/            # 4 models (tables)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│       └── facts/                 # 1 model (table)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├── seeds/state_to_region.csv      # 36 rows</a:t>
            </a:r>
            <a:br/>
            <a:r>
              <a:rPr sz="1100" b="0" i="0">
                <a:solidFill>
                  <a:srgbClr val="1F2A44"/>
                </a:solidFill>
                <a:latin typeface="Menlo"/>
              </a:rPr>
              <a:t>└── tests/                         # 8 singular tests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4 medallion schemas in DuckDB: raw · seeds · staging · marts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Materialization + config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6733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200400"/>
                <a:gridCol w="6035040"/>
              </a:tblGrid>
              <a:tr h="33467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Materialization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Why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raw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table (via load script)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external landing, mirrors an EL tool</a:t>
                      </a:r>
                    </a:p>
                  </a:txBody>
                  <a:tcPr/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seeds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table (via `dbt seed`)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small static reference data (36 rows)</a:t>
                      </a:r>
                    </a:p>
                  </a:txBody>
                  <a:tcPr/>
                </a:tc>
              </a:tr>
              <a:tr h="33467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cheap, always fresh, easy to iterate</a:t>
                      </a:r>
                    </a:p>
                  </a:txBody>
                  <a:tcPr/>
                </a:tc>
              </a:tr>
              <a:tr h="33467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BI expects stable performant tables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3657600"/>
            <a:ext cx="11064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Folder-level config in dbt_project.yml — one place to change layer-wide defaults.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No inline `{{ config() }}` on any model — the folder default already sets everything (view/table + schema + tags).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Tags: staging/fashionable, dim, fact — `dbt run --select tag:dim` etc.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Would revisit marts as `incremental` if fct_sales grew past a few million rows.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Star schema in action — 3 BI charts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01_mumbai_styles_and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1280160"/>
            <a:ext cx="3977639" cy="24688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" y="379475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A44"/>
                </a:solidFill>
              </a:rPr>
              <a:t>Mumbai styles + categories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" y="4133087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</a:rPr>
              <a:t>dim_product × dim_geography × dim_order_status</a:t>
            </a:r>
          </a:p>
        </p:txBody>
      </p:sp>
      <p:pic>
        <p:nvPicPr>
          <p:cNvPr id="7" name="Picture 6" descr="02_seasonal_revenu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280160"/>
            <a:ext cx="3977639" cy="2468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60520" y="379475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A44"/>
                </a:solidFill>
              </a:rPr>
              <a:t>Seasonal revenue trend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4133087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</a:rPr>
              <a:t>dim_date.season × fct_sales</a:t>
            </a:r>
          </a:p>
        </p:txBody>
      </p:sp>
      <p:pic>
        <p:nvPicPr>
          <p:cNvPr id="10" name="Picture 9" descr="03_cancellation_rate_by_reg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79" y="1280160"/>
            <a:ext cx="3977639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83879" y="3794759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F2A44"/>
                </a:solidFill>
              </a:rPr>
              <a:t>Cancellation rate by region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4133087"/>
            <a:ext cx="39776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C757D"/>
                </a:solidFill>
              </a:rPr>
              <a:t>dim_geography × is_cancelled flag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0392B"/>
                </a:solidFill>
              </a:rPr>
              <a:t>Every chart = one SELECT with visible joins — the star schema is doing the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1F2A44"/>
                </a:solidFill>
              </a:rPr>
              <a:t>Findings: Mumbai buys Sets (2,275) + kurtas (2,105) · Summer ₹45.3M total but Spring ₹0.85M/day beats Summer ₹0.76M/day · East cancel rate 15.4% vs West 13.2% — ~14% systemic baseline.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BI handoff — from star to self-service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F2A44"/>
                </a:solidFill>
              </a:rPr>
              <a:t>• Every chart in the previous slide is a single SELECT with visible joins to the star.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A44"/>
                </a:solidFill>
              </a:rPr>
              <a:t>• In production those queries move to a **semantic layer** — Looker LookML, dbt Semantic Layer, Cube, Metabase Models.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A44"/>
                </a:solidFill>
              </a:rPr>
              <a:t>• Business users then pick dimensions + measures to build dashboards, no SQL required.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A44"/>
                </a:solidFill>
              </a:rPr>
              <a:t>• Aggregation consistency (revenue_amount not amount) is enforced once in the layer, not repeated in every chart.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A44"/>
                </a:solidFill>
              </a:rPr>
              <a:t>• Dashboards can be added / changed by non-engineers, dev cycle drops from PR to point-and-click.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Semantic-layer adoption is a Phase-10 item in FUTURE_IMPROVEMENTS.md.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Testing strategy — 77 tests, tiered severity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25511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2743200"/>
                <a:gridCol w="5120640"/>
              </a:tblGrid>
              <a:tr h="318897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Layer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 count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Catches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Source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 (source freshness — off, static CSV)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Missing source table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Staging column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11 (schema.yml)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Type violations, NULL PKs, unknown statuses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Staging shape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2 singular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Raw→stg row-count · Status/Courier drift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Dimension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40 (schema.yml)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Non-unique keys, NULL attributes, unexpected values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Fact FK integrity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4 relationships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Orphan FK values pointing to non-existent dim rows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Fact column contracts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14 (schema.yml)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NULL keys/measures, non-unique PK</a:t>
                      </a:r>
                    </a:p>
                  </a:txBody>
                  <a:tcPr/>
                </a:tc>
              </a:tr>
              <a:tr h="318897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End-to-end business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5 singular (assert_*)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D1 revenue accounting, D5 is_terminal, D3 promo, etc.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512064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**Tiered severity** on drift-prone tests (`status_courier_contradictions`, `assert_fact_unknown_region_rate`): default severity 'error' so both `warn_if` and `error_if` actually fire — a subtle dbt gotcha.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A44"/>
                </a:solidFill>
              </a:rPr>
              <a:t>• **Singular tests named `assert_&lt;invariant&gt;.sql`** — the file name reads as what should be true.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Interesting test choices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80160"/>
          <a:ext cx="11064240" cy="1380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200400"/>
                <a:gridCol w="4206240"/>
              </a:tblGrid>
              <a:tr h="345186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Test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Threshold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Protects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status_courier_contradictions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WARN &gt;250 · ERROR &gt;1000  (today: 218)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D6 — surface real data-quality drift rather than silently coerce.</a:t>
                      </a:r>
                    </a:p>
                  </a:txBody>
                  <a:tcPr/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assert_no_cancelled_with_revenue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ERROR on any row (today: 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D1 — the derivation contract. Fails immediately if revenue_amount stops zeroing for cancelled.</a:t>
                      </a:r>
                    </a:p>
                  </a:txBody>
                  <a:tcPr/>
                </a:tc>
              </a:tr>
              <a:tr h="345186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assert_fact_unknown_region_rate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WARN &gt;3,000 · ERROR &gt;10,000  (today: 1,160)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A44"/>
                          </a:solidFill>
                        </a:rPr>
                        <a:t>Geography seed health — degradation of state-name coverage.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48640" y="4754880"/>
            <a:ext cx="11064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1">
                <a:solidFill>
                  <a:srgbClr val="C0392B"/>
                </a:solidFill>
              </a:rPr>
              <a:t>"Tests aren't a checkbox; they're the automated enforcement of the design contract. Each singular test protects one decision from D1–D8 — if a refactor breaks the decision, the test fires before the marts do."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F2A44"/>
                </a:solidFill>
              </a:rPr>
              <a:t>What I'd add for production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05840"/>
            <a:ext cx="1097280" cy="73152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64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**CI/CD** — GitHub Actions running `dbt build` + `sqlfluff` on every PR; state-based partial rebuilds.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**Incremental fct_sales** — once we cross a few million rows, switch materialization from `table` to `incremental` (merge on order_id, sku).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**Observability layer** — `dbt-expectations` for distribution tests + Elementary or Monte Carlo for anomaly detection.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**Semantic layer + BI tool** — Looker / Metabase / dbt Semantic Layer wrapping the marts (see slide 18).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**State-name normalization** — expand `state_to_region.csv` with aliases OR add a fuzzy-match enrichment step (current gap: 1,160 fact rows fall on region='Unknown').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**Type 2 SCD** on dim_product / dim_geography via `dbt snapshot` — source lacks effective dates today, need to introduce.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A44"/>
                </a:solidFill>
              </a:rPr>
              <a:t>• **Data contracts** on marts models — enforced column types + constraints so breaking schema changes fail at build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
                  <a:srgbClr val="6C757D"/>
                </a:solidFill>
              </a:rPr>
              <a:t>All items with rationale in FUTURE_IMPROVEMENTS.md.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